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Cambria Math" panose="02040503050406030204" pitchFamily="18" charset="0"/>
      <p:regular r:id="rId18"/>
    </p:embeddedFont>
    <p:embeddedFont>
      <p:font typeface="Sitka Small Semibold" pitchFamily="2" charset="0"/>
      <p:bold r:id="rId19"/>
      <p:boldItalic r:id="rId20"/>
    </p:embeddedFont>
    <p:embeddedFont>
      <p:font typeface="Sora" panose="020B0604020202020204" charset="0"/>
      <p:regular r:id="rId21"/>
    </p:embeddedFont>
    <p:embeddedFont>
      <p:font typeface="Sora Light" panose="020B0604020202020204" charset="0"/>
      <p:regular r:id="rId22"/>
    </p:embeddedFont>
    <p:embeddedFont>
      <p:font typeface="Sora Semi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0" autoAdjust="0"/>
  </p:normalViewPr>
  <p:slideViewPr>
    <p:cSldViewPr snapToGrid="0" snapToObjects="1">
      <p:cViewPr>
        <p:scale>
          <a:sx n="75" d="100"/>
          <a:sy n="75" d="100"/>
        </p:scale>
        <p:origin x="2037" y="-27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454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19046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89624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57546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42958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255182"/>
            <a:ext cx="10927878" cy="3076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algn="ctr">
              <a:lnSpc>
                <a:spcPct val="170000"/>
              </a:lnSpc>
            </a:pPr>
            <a:endParaRPr lang="en-US" sz="4000" dirty="0">
              <a:solidFill>
                <a:srgbClr val="1F1E1E"/>
              </a:solidFill>
              <a:latin typeface="Sora SemiBold" pitchFamily="34" charset="0"/>
              <a:ea typeface="Sora SemiBold" pitchFamily="34" charset="-122"/>
              <a:cs typeface="Sora SemiBold" pitchFamily="34" charset="-120"/>
            </a:endParaRPr>
          </a:p>
          <a:p>
            <a:pPr algn="ctr">
              <a:lnSpc>
                <a:spcPct val="170000"/>
              </a:lnSpc>
            </a:pPr>
            <a:r>
              <a:rPr lang="en-US" sz="40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Resource Optimization for LEO Constellation Networks: </a:t>
            </a:r>
            <a:br>
              <a:rPr lang="en-US" sz="40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</a:br>
            <a:r>
              <a:rPr lang="en-US" sz="40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 Multi-Satellite Cooperative Coverage Design</a:t>
            </a:r>
          </a:p>
          <a:p>
            <a:pPr algn="ctr">
              <a:lnSpc>
                <a:spcPct val="170000"/>
              </a:lnSpc>
            </a:pPr>
            <a:br>
              <a:rPr lang="en-US" sz="3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</a:br>
            <a:r>
              <a:rPr lang="en-US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BY: Xu Ma, Haijun Zhang, Wei Song, Yang Lu, Yuan Wu, and Victor C. M. Leung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27116" y="3603145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6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</a:rPr>
              <a:t>Final Project - Satellite and Mobile Communication</a:t>
            </a:r>
          </a:p>
          <a:p>
            <a:pPr marL="0" indent="0" algn="ctr">
              <a:lnSpc>
                <a:spcPct val="133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1908" y="3944739"/>
            <a:ext cx="10927878" cy="2540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631908" y="4218285"/>
            <a:ext cx="10927878" cy="7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Prof. Shlomi Arnon</a:t>
            </a:r>
          </a:p>
          <a:p>
            <a:pPr marL="0" indent="0" algn="ctr">
              <a:lnSpc>
                <a:spcPct val="133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Shachar Lavi &amp; Itamar </a:t>
            </a:r>
            <a:r>
              <a:rPr lang="en-US" sz="14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Guerchon</a:t>
            </a:r>
            <a:endParaRPr lang="en-US" sz="1400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81D5193C-40EE-F458-B5AD-2F3A117B6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340" y="4580651"/>
            <a:ext cx="3678864" cy="18945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54493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+mj-cs"/>
              </a:rPr>
              <a:t>Background &amp; The Challenge</a:t>
            </a:r>
            <a:endParaRPr lang="en-US" sz="3700" dirty="0">
              <a:cs typeface="+mj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31908" y="2499816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218574" y="2561828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Rise of LEO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218574" y="2966938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Mega-constellations (Starlink) provide global coverage but deploy hundreds to thousands of satellites simultaneously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8656" y="2499816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795322" y="2561828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+mj-cs"/>
              </a:rPr>
              <a:t>The Problem</a:t>
            </a:r>
            <a:endParaRPr lang="en-US" sz="1850" dirty="0">
              <a:cs typeface="+mj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95322" y="2966938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Full-frequency multiplexing creates severe spectrum-sharing challenges between adjacent LEO satellites and legacy GSO systems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1908" y="4104481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Interference Types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1908" y="4672112"/>
            <a:ext cx="10927878" cy="64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Co-layer Interference: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Adjacent LEO beams share the same frequency band, causing severe interference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Cross-layer Interference: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LEO transmissions interfere with legacy GSO earth stations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41585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Chosen Research Paper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31908" y="2415877"/>
            <a:ext cx="10927878" cy="2540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31908" y="2689423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218574" y="2751435"/>
            <a:ext cx="4764464" cy="303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Paper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18573" y="3118941"/>
            <a:ext cx="5190615" cy="81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“Resource Optimization for LEO Constellation Networks: </a:t>
            </a:r>
            <a:br>
              <a:rPr lang="en-US" sz="10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</a:br>
            <a:r>
              <a:rPr lang="en-US" sz="10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A Multi-Satellite Cooperative Coverage Design”,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Xu Ma, Haijun Zhang, Wei Song, Yang Lu, Yuan Wu, and Victor C. M. Leung, 2025</a:t>
            </a:r>
          </a:p>
        </p:txBody>
      </p:sp>
      <p:sp>
        <p:nvSpPr>
          <p:cNvPr id="7" name="Shape 5"/>
          <p:cNvSpPr/>
          <p:nvPr/>
        </p:nvSpPr>
        <p:spPr>
          <a:xfrm>
            <a:off x="6208656" y="2689423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6795322" y="2751435"/>
            <a:ext cx="4764464" cy="303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Core Concept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795322" y="3162895"/>
            <a:ext cx="47644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Multi-Satellite Cooperative Coverage Scheme (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</a:rPr>
              <a:t>CCS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1908" y="4101802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218574" y="4163814"/>
            <a:ext cx="4764464" cy="303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How It Works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218574" y="4575274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Replaces </a:t>
            </a:r>
            <a:r>
              <a:rPr lang="en-US" sz="14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K-means 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beam clustering with the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Improved P-center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algorithm to minimize beam overlap, while dynamically managing transmit power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8656" y="4101802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795322" y="4163814"/>
            <a:ext cx="4764464" cy="303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Our Objective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795322" y="4575274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Simulate the physical RF layer to demonstrate how network-level 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optimization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directly improves 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BER and Throughput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7206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Simulation Setup &amp; System Parameters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31908" y="1507232"/>
            <a:ext cx="10927878" cy="2540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31908" y="1780778"/>
            <a:ext cx="5373652" cy="1409005"/>
          </a:xfrm>
          <a:prstGeom prst="roundRect">
            <a:avLst>
              <a:gd name="adj" fmla="val 5382"/>
            </a:avLst>
          </a:prstGeom>
          <a:solidFill>
            <a:srgbClr val="FFFFFF"/>
          </a:solidFill>
          <a:ln w="25399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837782" y="1986657"/>
            <a:ext cx="4961905" cy="303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Modulation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82" y="2398117"/>
            <a:ext cx="496190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QAM-16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6035" y="1780778"/>
            <a:ext cx="5373752" cy="1409005"/>
          </a:xfrm>
          <a:prstGeom prst="roundRect">
            <a:avLst>
              <a:gd name="adj" fmla="val 5382"/>
            </a:avLst>
          </a:prstGeom>
          <a:solidFill>
            <a:srgbClr val="FFFFFF"/>
          </a:solidFill>
          <a:ln w="25399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6391909" y="1986657"/>
            <a:ext cx="496200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🌡️</a:t>
            </a: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Thermal Noise &amp; GSO Cross-layer Interference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91909" y="2694980"/>
            <a:ext cx="496200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Kept constant to isolate co-layer mitigation impact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1908" y="3437930"/>
            <a:ext cx="10927878" cy="2540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6322457" y="4048522"/>
            <a:ext cx="5243679" cy="303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Proposed CCS (New Method)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31908" y="4443313"/>
            <a:ext cx="5243679" cy="2540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322457" y="4670227"/>
            <a:ext cx="5243679" cy="1570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Algorithm: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Improved P-center algorithm</a:t>
            </a:r>
            <a:endParaRPr lang="en-US" sz="1400" dirty="0"/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Beam Overlap: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Minimized - interference pushed to side lobes</a:t>
            </a:r>
            <a:endParaRPr lang="en-US" sz="1400" dirty="0"/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Measured Interference Level: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-150 dBW </a:t>
            </a:r>
            <a:r>
              <a:rPr lang="en-US" sz="14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(significantly reduced)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5864" y="4048522"/>
            <a:ext cx="5243679" cy="303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Baseline K-means (Current Method)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322457" y="4443313"/>
            <a:ext cx="5243679" cy="2540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625863" y="4670227"/>
            <a:ext cx="5243679" cy="1281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Algorithm: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Standard K-means clustering</a:t>
            </a:r>
            <a:endParaRPr lang="en-US" sz="1400" dirty="0"/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Beam Overlap: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High - direct interference to users</a:t>
            </a:r>
            <a:endParaRPr lang="en-US" sz="1400" dirty="0"/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Measured Interference Level: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-132 dBW </a:t>
            </a:r>
            <a:r>
              <a:rPr lang="en-US" sz="14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(high interference)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55030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+mj-cs"/>
              </a:rPr>
              <a:t>Key Formulas &amp; Computational Framework</a:t>
            </a:r>
            <a:endParaRPr lang="en-US" sz="3700" dirty="0">
              <a:cs typeface="+mj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31908" y="1510010"/>
            <a:ext cx="3522277" cy="4792861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25399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837782" y="1715889"/>
            <a:ext cx="3110529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1. Shannon-Hartley Capacity under Interference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82" y="2834977"/>
            <a:ext cx="3110529" cy="9027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/>
              <p:nvPr/>
            </p:nvSpPr>
            <p:spPr>
              <a:xfrm>
                <a:off x="837782" y="3966270"/>
                <a:ext cx="3110529" cy="21307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>
                  <a:lnSpc>
                    <a:spcPct val="133000"/>
                  </a:lnSpc>
                  <a:spcAft>
                    <a:spcPts val="850"/>
                  </a:spcAft>
                </a:pPr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  <m:t>𝑃</m:t>
                        </m:r>
                      </m:e>
                      <m:sub>
                        <m:r>
                          <a:rPr lang="en-US" sz="1400" i="1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  <m:t>𝑠𝑖𝑔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 = signal power,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  <m:t>𝐼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  <m:t>𝑐𝑜𝑛</m:t>
                        </m:r>
                      </m:sub>
                    </m:sSub>
                    <m:r>
                      <a:rPr lang="en-US" sz="1400" i="1" dirty="0">
                        <a:solidFill>
                          <a:srgbClr val="3B3535"/>
                        </a:solidFill>
                        <a:latin typeface="Cambria Math" panose="02040503050406030204" pitchFamily="18" charset="0"/>
                        <a:ea typeface="Sora Light" pitchFamily="34" charset="-122"/>
                        <a:cs typeface="Sora Light" pitchFamily="34" charset="-12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= co-layer interference</a:t>
                </a:r>
                <a:r>
                  <a:rPr lang="en-US" sz="1400" dirty="0">
                    <a:solidFill>
                      <a:srgbClr val="3B3535"/>
                    </a:solidFill>
                    <a:cs typeface="Sora Light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  <m:t>𝐼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  <m:t>𝑔𝑠𝑜</m:t>
                        </m:r>
                      </m:sub>
                    </m:sSub>
                    <m:r>
                      <a:rPr lang="en-US" sz="1400" i="1" dirty="0">
                        <a:solidFill>
                          <a:srgbClr val="3B3535"/>
                        </a:solidFill>
                        <a:latin typeface="Cambria Math" panose="02040503050406030204" pitchFamily="18" charset="0"/>
                        <a:cs typeface="Sora Light" pitchFamily="34" charset="-12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= cross-layer interference, KTB = thermal noise</a:t>
                </a:r>
                <a:endParaRPr lang="en-US" sz="1400" dirty="0"/>
              </a:p>
              <a:p>
                <a:pPr marL="0" indent="0" algn="l">
                  <a:lnSpc>
                    <a:spcPct val="133000"/>
                  </a:lnSpc>
                  <a:buNone/>
                </a:pPr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Formula 1 shows how interference reduction directly increases achievable capacity</a:t>
                </a:r>
                <a:endParaRPr lang="en-US" sz="1400" dirty="0"/>
              </a:p>
            </p:txBody>
          </p:sp>
        </mc:Choice>
        <mc:Fallback xmlns="">
          <p:sp>
            <p:nvSpPr>
              <p:cNvPr id="6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82" y="3966270"/>
                <a:ext cx="3110529" cy="2130723"/>
              </a:xfrm>
              <a:prstGeom prst="rect">
                <a:avLst/>
              </a:prstGeom>
              <a:blipFill>
                <a:blip r:embed="rId4"/>
                <a:stretch>
                  <a:fillRect l="-3523" r="-1174" b="-5158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4"/>
          <p:cNvSpPr/>
          <p:nvPr/>
        </p:nvSpPr>
        <p:spPr>
          <a:xfrm>
            <a:off x="4334660" y="1510010"/>
            <a:ext cx="3522277" cy="4792861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25399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4540533" y="1715889"/>
            <a:ext cx="311052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2. ITU EPFD Compliance</a:t>
            </a:r>
            <a:endParaRPr lang="en-US" sz="1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533" y="2241252"/>
            <a:ext cx="3110529" cy="8974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6"/>
              <p:cNvSpPr/>
              <p:nvPr/>
            </p:nvSpPr>
            <p:spPr>
              <a:xfrm>
                <a:off x="4540533" y="3367187"/>
                <a:ext cx="3110529" cy="184179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>
                  <a:lnSpc>
                    <a:spcPct val="133000"/>
                  </a:lnSpc>
                  <a:spcAft>
                    <a:spcPts val="850"/>
                  </a:spcAft>
                </a:pPr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  <m:t>𝑃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  <m:t>𝑏</m:t>
                        </m:r>
                      </m:sub>
                    </m:sSub>
                    <m:r>
                      <a:rPr lang="en-US" sz="1400" i="1" dirty="0">
                        <a:solidFill>
                          <a:srgbClr val="3B3535"/>
                        </a:solidFill>
                        <a:latin typeface="Cambria Math" panose="02040503050406030204" pitchFamily="18" charset="0"/>
                        <a:cs typeface="Sora Light" pitchFamily="34" charset="-12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= transmit power, g = channel gain, d = distance,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  <m:t>𝐺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  <m:t>𝑚𝑎𝑥</m:t>
                        </m:r>
                      </m:sub>
                    </m:sSub>
                    <m:r>
                      <a:rPr lang="en-US" sz="1400" i="1" dirty="0">
                        <a:solidFill>
                          <a:srgbClr val="3B3535"/>
                        </a:solidFill>
                        <a:latin typeface="Cambria Math" panose="02040503050406030204" pitchFamily="18" charset="0"/>
                        <a:cs typeface="Sora Light" pitchFamily="34" charset="-12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= receiver gain</a:t>
                </a:r>
                <a:endParaRPr lang="en-US" sz="1400" dirty="0"/>
              </a:p>
              <a:p>
                <a:pPr marL="0" indent="0" algn="l">
                  <a:lnSpc>
                    <a:spcPct val="133000"/>
                  </a:lnSpc>
                  <a:buNone/>
                </a:pPr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Formula 2 demonstrates the regulatory constraint that CCS must satisfy</a:t>
                </a:r>
                <a:endParaRPr lang="en-US" sz="1400" dirty="0"/>
              </a:p>
            </p:txBody>
          </p:sp>
        </mc:Choice>
        <mc:Fallback xmlns="">
          <p:sp>
            <p:nvSpPr>
              <p:cNvPr id="10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533" y="3367187"/>
                <a:ext cx="3110529" cy="1841798"/>
              </a:xfrm>
              <a:prstGeom prst="rect">
                <a:avLst/>
              </a:prstGeom>
              <a:blipFill>
                <a:blip r:embed="rId6"/>
                <a:stretch>
                  <a:fillRect l="-3529" t="-331" b="-3311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7"/>
          <p:cNvSpPr/>
          <p:nvPr/>
        </p:nvSpPr>
        <p:spPr>
          <a:xfrm>
            <a:off x="8037411" y="1510010"/>
            <a:ext cx="3522376" cy="4792861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25399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8"/>
          <p:cNvSpPr/>
          <p:nvPr/>
        </p:nvSpPr>
        <p:spPr>
          <a:xfrm>
            <a:off x="8243284" y="1715889"/>
            <a:ext cx="3110628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3. Phased Array Antenna Peak Gain</a:t>
            </a:r>
            <a:endParaRPr lang="en-US" sz="1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3284" y="2538115"/>
            <a:ext cx="3110628" cy="609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9"/>
              <p:cNvSpPr/>
              <p:nvPr/>
            </p:nvSpPr>
            <p:spPr>
              <a:xfrm>
                <a:off x="8243284" y="3375720"/>
                <a:ext cx="3110628" cy="21307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>
                  <a:lnSpc>
                    <a:spcPct val="133000"/>
                  </a:lnSpc>
                  <a:spcAft>
                    <a:spcPts val="850"/>
                  </a:spcAft>
                </a:pPr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Where: η = efficiency, N = number of antenna cells,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ora Light" pitchFamily="34" charset="-12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ora Light" pitchFamily="34" charset="-120"/>
                          </a:rPr>
                          <m:t>𝜃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3B3535"/>
                            </a:solidFill>
                            <a:latin typeface="Cambria Math" panose="02040503050406030204" pitchFamily="18" charset="0"/>
                            <a:cs typeface="Sora Light" pitchFamily="34" charset="-120"/>
                          </a:rPr>
                          <m:t>𝑟𝑎𝑑</m:t>
                        </m:r>
                      </m:sub>
                    </m:sSub>
                    <m:r>
                      <a:rPr lang="en-US" sz="1400" i="1" dirty="0">
                        <a:solidFill>
                          <a:srgbClr val="3B3535"/>
                        </a:solidFill>
                        <a:latin typeface="Cambria Math" panose="02040503050406030204" pitchFamily="18" charset="0"/>
                        <a:cs typeface="Sora Light" pitchFamily="34" charset="-12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= half-power beamwidth in radians</a:t>
                </a:r>
                <a:endParaRPr lang="en-US" sz="1400" dirty="0"/>
              </a:p>
              <a:p>
                <a:pPr marL="0" indent="0" algn="l">
                  <a:lnSpc>
                    <a:spcPct val="133000"/>
                  </a:lnSpc>
                  <a:buNone/>
                </a:pPr>
                <a:r>
                  <a:rPr lang="en-US" sz="1400" dirty="0">
                    <a:solidFill>
                      <a:srgbClr val="3B3535"/>
                    </a:solidFill>
                    <a:latin typeface="Sora Light" pitchFamily="34" charset="0"/>
                    <a:ea typeface="Sora Light" pitchFamily="34" charset="-122"/>
                    <a:cs typeface="Sora Light" pitchFamily="34" charset="-120"/>
                  </a:rPr>
                  <a:t>Formula 3 illustrates the antenna design parameters that determine beam directivity and interference patterns</a:t>
                </a:r>
                <a:endParaRPr lang="en-US" sz="1400" dirty="0"/>
              </a:p>
            </p:txBody>
          </p:sp>
        </mc:Choice>
        <mc:Fallback xmlns="">
          <p:sp>
            <p:nvSpPr>
              <p:cNvPr id="14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284" y="3375720"/>
                <a:ext cx="3110628" cy="2130723"/>
              </a:xfrm>
              <a:prstGeom prst="rect">
                <a:avLst/>
              </a:prstGeom>
              <a:blipFill>
                <a:blip r:embed="rId8"/>
                <a:stretch>
                  <a:fillRect l="-3523" t="-860" r="-2740" b="-2865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תמונה 15">
            <a:extLst>
              <a:ext uri="{FF2B5EF4-FFF2-40B4-BE49-F238E27FC236}">
                <a16:creationId xmlns:a16="http://schemas.microsoft.com/office/drawing/2014/main" id="{14F054D3-3737-99AC-1EEF-B470C7BFB0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7542" y="3246955"/>
            <a:ext cx="180971" cy="314318"/>
          </a:xfrm>
          <a:prstGeom prst="rect">
            <a:avLst/>
          </a:prstGeom>
        </p:spPr>
      </p:pic>
      <p:sp>
        <p:nvSpPr>
          <p:cNvPr id="17" name="אליפסה 16">
            <a:extLst>
              <a:ext uri="{FF2B5EF4-FFF2-40B4-BE49-F238E27FC236}">
                <a16:creationId xmlns:a16="http://schemas.microsoft.com/office/drawing/2014/main" id="{752A66FF-1E8B-1B85-9572-2A08720BDDAE}"/>
              </a:ext>
            </a:extLst>
          </p:cNvPr>
          <p:cNvSpPr/>
          <p:nvPr/>
        </p:nvSpPr>
        <p:spPr>
          <a:xfrm flipV="1">
            <a:off x="6579467" y="2688637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9" name="אליפסה 18">
            <a:extLst>
              <a:ext uri="{FF2B5EF4-FFF2-40B4-BE49-F238E27FC236}">
                <a16:creationId xmlns:a16="http://schemas.microsoft.com/office/drawing/2014/main" id="{1F6FB077-B38D-F6BA-EC79-FAF2D8EC4E53}"/>
              </a:ext>
            </a:extLst>
          </p:cNvPr>
          <p:cNvSpPr/>
          <p:nvPr/>
        </p:nvSpPr>
        <p:spPr>
          <a:xfrm flipV="1">
            <a:off x="6568576" y="2986183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====================================</a:t>
            </a:r>
            <a:endParaRPr lang="he-I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Impact on Bit Error Rate (BER)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540173"/>
            <a:ext cx="5815165" cy="142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4852" y="1736923"/>
            <a:ext cx="5345475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Baseline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04852" y="2204145"/>
            <a:ext cx="5345475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 interference flattens the BER curve, requires approximately </a:t>
            </a:r>
            <a:r>
              <a:rPr lang="en-US" sz="1350" b="1" dirty="0">
                <a:solidFill>
                  <a:srgbClr val="DA1B2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~24 </a:t>
            </a:r>
            <a:r>
              <a:rPr lang="en-US" sz="1350" b="1" dirty="0" err="1">
                <a:solidFill>
                  <a:srgbClr val="DA1B2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dBW</a:t>
            </a: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r>
              <a:rPr lang="en-US" sz="135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to </a:t>
            </a:r>
            <a:r>
              <a:rPr lang="he-IL" sz="1350" dirty="0" err="1">
                <a:solidFill>
                  <a:srgbClr val="3B3535"/>
                </a:solidFill>
                <a:latin typeface="Sora Light" pitchFamily="34" charset="0"/>
              </a:rPr>
              <a:t>reach</a:t>
            </a:r>
            <a:r>
              <a:rPr lang="he-IL" sz="1350" dirty="0">
                <a:solidFill>
                  <a:srgbClr val="3B3535"/>
                </a:solidFill>
                <a:latin typeface="Sora Light" pitchFamily="34" charset="0"/>
              </a:rPr>
              <a:t> </a:t>
            </a:r>
            <a:r>
              <a:rPr lang="he-IL" sz="1350" dirty="0" err="1">
                <a:solidFill>
                  <a:srgbClr val="3B3535"/>
                </a:solidFill>
                <a:latin typeface="Sora Light" pitchFamily="34" charset="0"/>
              </a:rPr>
              <a:t>the</a:t>
            </a:r>
            <a:r>
              <a:rPr lang="he-IL" sz="1350" dirty="0">
                <a:solidFill>
                  <a:srgbClr val="3B3535"/>
                </a:solidFill>
                <a:latin typeface="Sora Light" pitchFamily="34" charset="0"/>
              </a:rPr>
              <a:t> </a:t>
            </a:r>
            <a:r>
              <a:rPr lang="he-IL" sz="1350" dirty="0" err="1">
                <a:solidFill>
                  <a:srgbClr val="3B3535"/>
                </a:solidFill>
                <a:latin typeface="Sora Light" pitchFamily="34" charset="0"/>
              </a:rPr>
              <a:t>target</a:t>
            </a:r>
            <a:r>
              <a:rPr lang="he-IL" sz="1350" dirty="0">
                <a:solidFill>
                  <a:srgbClr val="3B3535"/>
                </a:solidFill>
                <a:latin typeface="Sora Light" pitchFamily="34" charset="0"/>
              </a:rPr>
              <a:t> BER</a:t>
            </a:r>
            <a:endParaRPr lang="en-US" sz="135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3139976"/>
            <a:ext cx="5815165" cy="142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4852" y="3336727"/>
            <a:ext cx="5345475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CCS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04852" y="3803948"/>
            <a:ext cx="5345475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Pushes interference energy into </a:t>
            </a:r>
            <a:r>
              <a:rPr lang="en-US" sz="1350" b="1" dirty="0">
                <a:solidFill>
                  <a:srgbClr val="3B3535"/>
                </a:solidFill>
                <a:latin typeface="Sitka Small Semibold" pitchFamily="2" charset="0"/>
                <a:ea typeface="Sora Bold" pitchFamily="34" charset="-122"/>
                <a:cs typeface="Sora Light" pitchFamily="34" charset="-120"/>
              </a:rPr>
              <a:t>l</a:t>
            </a:r>
            <a:r>
              <a:rPr lang="en-US" sz="1350" b="1" dirty="0">
                <a:solidFill>
                  <a:srgbClr val="3B3535"/>
                </a:solidFill>
                <a:latin typeface="Sitka Small Semibold" pitchFamily="2" charset="0"/>
                <a:ea typeface="Sora Bold" pitchFamily="34" charset="-122"/>
              </a:rPr>
              <a:t>ower-gain side lobes</a:t>
            </a: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reducing the interference floor seen by the receiver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4739779"/>
            <a:ext cx="5815165" cy="1424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4852" y="4936530"/>
            <a:ext cx="5345475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Result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04852" y="5403751"/>
            <a:ext cx="5345475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Achieves target BER of </a:t>
            </a:r>
            <a:r>
              <a:rPr lang="en-US" sz="1350" b="1" dirty="0">
                <a:solidFill>
                  <a:srgbClr val="DA1B2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10⁻³</a:t>
            </a: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with </a:t>
            </a:r>
            <a:r>
              <a:rPr lang="en-US" sz="1350" b="1" dirty="0">
                <a:solidFill>
                  <a:srgbClr val="FF0000"/>
                </a:solidFill>
                <a:latin typeface="Sitka Small Semibold" pitchFamily="2" charset="0"/>
                <a:ea typeface="Sora Bold" pitchFamily="34" charset="-122"/>
                <a:cs typeface="Sora Light" pitchFamily="34" charset="-120"/>
              </a:rPr>
              <a:t>4 </a:t>
            </a:r>
            <a:r>
              <a:rPr lang="en-US" sz="1350" b="1" dirty="0" err="1">
                <a:solidFill>
                  <a:srgbClr val="FF0000"/>
                </a:solidFill>
                <a:latin typeface="Sitka Small Semibold" pitchFamily="2" charset="0"/>
                <a:ea typeface="Sora Bold" pitchFamily="34" charset="-122"/>
                <a:cs typeface="Sora Light" pitchFamily="34" charset="-120"/>
              </a:rPr>
              <a:t>dBW</a:t>
            </a:r>
            <a:r>
              <a:rPr lang="en-US" sz="1350" b="1" dirty="0">
                <a:solidFill>
                  <a:srgbClr val="FF0000"/>
                </a:solidFill>
                <a:latin typeface="Sitka Small Semibold" pitchFamily="2" charset="0"/>
                <a:ea typeface="Sora Bold" pitchFamily="34" charset="-122"/>
                <a:cs typeface="Sora Light" pitchFamily="34" charset="-120"/>
              </a:rPr>
              <a:t> less transmit power </a:t>
            </a: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than the baseline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998" y="1736923"/>
            <a:ext cx="4679039" cy="3141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82206" y="5075337"/>
            <a:ext cx="5288624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3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Baseline vs. CCS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66353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Impact on Network Throughput</a:t>
            </a:r>
            <a:endParaRPr lang="en-US" sz="3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514112"/>
              </p:ext>
            </p:extLst>
          </p:nvPr>
        </p:nvGraphicFramePr>
        <p:xfrm>
          <a:off x="631908" y="1734145"/>
          <a:ext cx="5812089" cy="1567021"/>
        </p:xfrm>
        <a:graphic>
          <a:graphicData uri="http://schemas.openxmlformats.org/drawingml/2006/table">
            <a:tbl>
              <a:tblPr/>
              <a:tblGrid>
                <a:gridCol w="1627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Tx Power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Baseline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A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CCS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A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4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 dBW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1.7 Mbps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kern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2.</a:t>
                      </a:r>
                      <a:r>
                        <a:rPr lang="he-IL" sz="1400" kern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8</a:t>
                      </a:r>
                      <a:r>
                        <a:rPr lang="en-US" sz="1400" kern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Mbps </a:t>
                      </a:r>
                      <a:r>
                        <a:rPr lang="en-US" sz="1400" b="1" dirty="0">
                          <a:solidFill>
                            <a:srgbClr val="DA1B2E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(+64%)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30 dBW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4.5 Mbps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kern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5.9 Mbps </a:t>
                      </a:r>
                      <a:r>
                        <a:rPr lang="en-US" sz="1400" b="1" dirty="0">
                          <a:solidFill>
                            <a:srgbClr val="DA1B2E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(+31%)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509" y="3491607"/>
            <a:ext cx="5837488" cy="11059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3182" y="3517007"/>
            <a:ext cx="5580816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Higher Data Rates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63182" y="3994348"/>
            <a:ext cx="5580816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CCS consistently achieves greater throughput than Baseline at every power level.</a:t>
            </a:r>
            <a:endParaRPr lang="en-US" sz="1400" dirty="0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509" y="4907855"/>
            <a:ext cx="5837488" cy="11059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3182" y="4933255"/>
            <a:ext cx="5580816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Better Power Utilization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63182" y="5410597"/>
            <a:ext cx="5580816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Interference suppression converts wasted power margin into usable capacity.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867" y="1937246"/>
            <a:ext cx="4675170" cy="32532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90867" y="5268587"/>
            <a:ext cx="4744650" cy="861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Network Throughput vs. Transmit Power - CCS </a:t>
            </a:r>
            <a:br>
              <a:rPr lang="en-US" sz="11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</a:br>
            <a:r>
              <a:rPr lang="en-US" sz="11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vs. </a:t>
            </a:r>
            <a:br>
              <a:rPr lang="en-US" sz="11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</a:br>
            <a:r>
              <a:rPr lang="en-US" sz="11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Baseline across the full transmit power range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51768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Visualizing the Interference - Constellation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704" y="1719560"/>
            <a:ext cx="3622088" cy="27769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4699595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Baseline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1908" y="5148163"/>
            <a:ext cx="5243679" cy="1241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Severe interference causes symbols to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spread, blur, and cross decision boundaries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- leading to high demodulation error rates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509" y="1719560"/>
            <a:ext cx="3737576" cy="28566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22457" y="4779268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CCS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322457" y="5148163"/>
            <a:ext cx="52436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Tight, 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well-defined QAM-16 clusters with 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significantly improved demodulation reliability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8075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Regulatory Compliance - Protecting GSO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16223" y="1807865"/>
            <a:ext cx="6080780" cy="185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741680" lvl="1" indent="-284480">
              <a:lnSpc>
                <a:spcPct val="160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ITU Constraint: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EPFD must not exceed</a:t>
            </a:r>
            <a:b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</a:b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-205 </a:t>
            </a:r>
            <a:r>
              <a:rPr lang="en-US" sz="1400" b="1" dirty="0" err="1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dBW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/(m² * 200MHz)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at GSO earth stations.</a:t>
            </a:r>
          </a:p>
          <a:p>
            <a:pPr marL="741680" lvl="1" indent="-284480" algn="just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741680" lvl="1" indent="-284480" algn="just">
              <a:lnSpc>
                <a:spcPct val="160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Baseline </a:t>
            </a:r>
            <a:r>
              <a:rPr lang="en-US" sz="1400" b="1" dirty="0">
                <a:solidFill>
                  <a:srgbClr val="DA1B2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✗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Blindly transmits at full power, periodically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violates ITU threshold.</a:t>
            </a:r>
          </a:p>
          <a:p>
            <a:pPr marL="741680" lvl="1" indent="-284480" algn="just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741680" lvl="1" indent="-284480" algn="just">
              <a:lnSpc>
                <a:spcPct val="160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CCS </a:t>
            </a:r>
            <a:r>
              <a:rPr lang="en-US" sz="1400" b="1" dirty="0">
                <a:solidFill>
                  <a:srgbClr val="1B6EDA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✓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Actively suppresses power when approaching GSO line-of-sight, maintains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strict compliance.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867" y="1529131"/>
            <a:ext cx="4675170" cy="30821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8710" y="4611262"/>
            <a:ext cx="46751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Regulatory Compliance: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GSO Interference Protection (EPFD)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085949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Architectural Trade-offs</a:t>
            </a:r>
            <a:endParaRPr lang="en-US" sz="3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2040930"/>
          <a:ext cx="10927879" cy="3718228"/>
        </p:xfrm>
        <a:graphic>
          <a:graphicData uri="http://schemas.openxmlformats.org/drawingml/2006/table">
            <a:tbl>
              <a:tblPr/>
              <a:tblGrid>
                <a:gridCol w="3715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Dimension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Baseline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A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CCS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A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3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Beam Placement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K-means (High overlap)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Improved P-center (Minimal overlap)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3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GSO Protection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Blind transmission (Violates ITU)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Active power suppression (Compliant)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4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Resource Allocation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Static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Dynamic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4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Computational Complexity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Low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Moderate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Traffic Resilience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Degrades severely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Robust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539280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494260"/>
            <a:ext cx="10927878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Network-level optimization (beam 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placement) has a dramatic and measurable effect on physical 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RF link performance</a:t>
            </a:r>
            <a:endParaRPr lang="en-US" sz="1400" dirty="0"/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CCS framework 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successfully lowers BER, increases throughput, and ensures spectral coexistence with 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GSO systems.</a:t>
            </a:r>
            <a:endParaRPr lang="en-US" sz="1400" dirty="0"/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Meets ITU regulatory requirements while delivering meaningful performance gains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1908" y="3758009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Future Work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31908" y="4325640"/>
            <a:ext cx="10927878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Extend to multi-orbit architectures (LEO, MEO, GSO)</a:t>
            </a:r>
            <a:endParaRPr lang="en-US" sz="1400" dirty="0"/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Integrate predictive machine learning models for dynamic traffic forecasting</a:t>
            </a:r>
            <a:endParaRPr lang="en-US" sz="1400" dirty="0"/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Proactive interference management under time-varying channel conditions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672772E-BACF-BADA-7D62-5457C81861B8}"/>
              </a:ext>
            </a:extLst>
          </p:cNvPr>
          <p:cNvSpPr/>
          <p:nvPr/>
        </p:nvSpPr>
        <p:spPr>
          <a:xfrm>
            <a:off x="631908" y="1539280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cs typeface="Sora SemiBold" pitchFamily="34" charset="-120"/>
              </a:rPr>
              <a:t>Questions</a:t>
            </a:r>
            <a:endParaRPr lang="en-US" sz="3700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08275951-98DB-98F0-4982-877F339DA4AA}"/>
              </a:ext>
            </a:extLst>
          </p:cNvPr>
          <p:cNvSpPr txBox="1"/>
          <p:nvPr/>
        </p:nvSpPr>
        <p:spPr>
          <a:xfrm>
            <a:off x="311889" y="2505670"/>
            <a:ext cx="11780874" cy="12875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he-IL" dirty="0"/>
              <a:t>1. המאמר מנסח את ה- </a:t>
            </a:r>
            <a:r>
              <a:rPr lang="en-US" dirty="0"/>
              <a:t>CCS</a:t>
            </a:r>
            <a:r>
              <a:rPr lang="he-IL" dirty="0"/>
              <a:t> כבעיית </a:t>
            </a:r>
            <a:r>
              <a:rPr lang="en-US" dirty="0"/>
              <a:t>MINLP</a:t>
            </a:r>
            <a:r>
              <a:rPr lang="he-IL" dirty="0"/>
              <a:t> (תכנון לא-ליניארי מעורב בשלמים) שהיא</a:t>
            </a:r>
            <a:r>
              <a:rPr lang="en-US" dirty="0"/>
              <a:t>NP-hard </a:t>
            </a:r>
            <a:r>
              <a:rPr lang="he-IL" dirty="0"/>
              <a:t>. הרחיבו על האופי המתמטי של הצימוד בין המשתנים, והסבירו כיצד המאמר משתמש בפרישה דואלית של </a:t>
            </a:r>
            <a:r>
              <a:rPr lang="he-IL" dirty="0" err="1"/>
              <a:t>לגרנז</a:t>
            </a:r>
            <a:r>
              <a:rPr lang="he-IL" dirty="0"/>
              <a:t>' כדי לפתור את תת-הבעיה המשולבת של שיוך אלומות והקצאת ההספק בזמן </a:t>
            </a:r>
            <a:r>
              <a:rPr lang="he-IL" dirty="0" err="1"/>
              <a:t>פולינומיאלי</a:t>
            </a:r>
            <a:r>
              <a:rPr lang="he-IL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6984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16D2BD6-7397-B8B8-3338-03493E90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ED02AAB-E89C-C1CA-2FC0-CC1CECD586A8}"/>
              </a:ext>
            </a:extLst>
          </p:cNvPr>
          <p:cNvSpPr/>
          <p:nvPr/>
        </p:nvSpPr>
        <p:spPr>
          <a:xfrm>
            <a:off x="631908" y="1539280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cs typeface="Sora SemiBold" pitchFamily="34" charset="-120"/>
              </a:rPr>
              <a:t>Questions</a:t>
            </a:r>
            <a:endParaRPr lang="en-US" sz="3700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6CE7871-FDC3-D831-2E46-357522EDABA6}"/>
              </a:ext>
            </a:extLst>
          </p:cNvPr>
          <p:cNvSpPr txBox="1"/>
          <p:nvPr/>
        </p:nvSpPr>
        <p:spPr>
          <a:xfrm>
            <a:off x="311889" y="2505670"/>
            <a:ext cx="11780874" cy="12875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he-IL" dirty="0"/>
              <a:t>2. המאמר מציג בעיית אופטימיזציה מרובת יעדים המתמקדת הן בתפוקת הרשת והן ב- </a:t>
            </a:r>
            <a:r>
              <a:rPr lang="en-US" dirty="0"/>
              <a:t>time</a:t>
            </a:r>
            <a:r>
              <a:rPr lang="he-IL" dirty="0"/>
              <a:t> </a:t>
            </a:r>
            <a:r>
              <a:rPr lang="en-US" dirty="0"/>
              <a:t>coverage</a:t>
            </a:r>
            <a:r>
              <a:rPr lang="he-IL" dirty="0"/>
              <a:t>. כיצד תת-הבעיה השלישית, </a:t>
            </a:r>
            <a:r>
              <a:rPr lang="en-US" dirty="0"/>
              <a:t>Beam Hopping Time Slot Allocation</a:t>
            </a:r>
            <a:r>
              <a:rPr lang="he-IL" dirty="0"/>
              <a:t> מאזנת מבחינה מתמטית בין יעדים מנוגדים אלו כדי להבטיח </a:t>
            </a:r>
            <a:r>
              <a:rPr lang="en-US" dirty="0"/>
              <a:t>Fairness</a:t>
            </a:r>
            <a:r>
              <a:rPr lang="he-IL" dirty="0"/>
              <a:t> מסוג</a:t>
            </a:r>
            <a:r>
              <a:rPr lang="en-US" dirty="0"/>
              <a:t> Max-Min </a:t>
            </a:r>
            <a:r>
              <a:rPr lang="he-IL" dirty="0"/>
              <a:t>לאורך הקונסטלציה כולה?</a:t>
            </a:r>
          </a:p>
        </p:txBody>
      </p:sp>
    </p:spTree>
    <p:extLst>
      <p:ext uri="{BB962C8B-B14F-4D97-AF65-F5344CB8AC3E}">
        <p14:creationId xmlns:p14="http://schemas.microsoft.com/office/powerpoint/2010/main" val="729851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CB124B1-B630-397F-D10E-1E87833A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2840682-3903-AD0E-92B3-DC702261E839}"/>
              </a:ext>
            </a:extLst>
          </p:cNvPr>
          <p:cNvSpPr/>
          <p:nvPr/>
        </p:nvSpPr>
        <p:spPr>
          <a:xfrm>
            <a:off x="631908" y="1539280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cs typeface="Sora SemiBold" pitchFamily="34" charset="-120"/>
              </a:rPr>
              <a:t>Questions</a:t>
            </a:r>
            <a:endParaRPr lang="en-US" sz="3700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89DE211-C9C0-3004-8BD6-66E1A52CB0D4}"/>
              </a:ext>
            </a:extLst>
          </p:cNvPr>
          <p:cNvSpPr txBox="1"/>
          <p:nvPr/>
        </p:nvSpPr>
        <p:spPr>
          <a:xfrm>
            <a:off x="311889" y="2505670"/>
            <a:ext cx="11780874" cy="12875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he-IL" dirty="0"/>
              <a:t>3. המוטיבציה המרכזית של המאמר היא תרחיש הדו-קיום בין מערכות </a:t>
            </a:r>
            <a:r>
              <a:rPr lang="en-US" dirty="0"/>
              <a:t> LEO</a:t>
            </a:r>
            <a:r>
              <a:rPr lang="he-IL" dirty="0"/>
              <a:t>ל-</a:t>
            </a:r>
            <a:r>
              <a:rPr lang="en-US" dirty="0"/>
              <a:t> ,GSO </a:t>
            </a:r>
            <a:r>
              <a:rPr lang="he-IL" dirty="0"/>
              <a:t>תוך הדגשת היחסים הדינמיים התלת-שכבתיים בין לוויינים, אלומות ומשתמשים. כיצד שיטת ה</a:t>
            </a:r>
            <a:r>
              <a:rPr lang="en-US" dirty="0"/>
              <a:t>CCS -</a:t>
            </a:r>
            <a:r>
              <a:rPr lang="he-IL" dirty="0"/>
              <a:t> המוצעת מדכאת באופן דינמי הפרעות בין-שכבתיות כדי לעמוד באופן קשיח במגבלות ה-</a:t>
            </a:r>
            <a:r>
              <a:rPr lang="en-US" dirty="0"/>
              <a:t>EPFD </a:t>
            </a:r>
            <a:r>
              <a:rPr lang="he-IL" dirty="0"/>
              <a:t>, מבלי לפגוע באופן חמור בביצועי רשת ה-</a:t>
            </a:r>
            <a:r>
              <a:rPr lang="en-US" dirty="0"/>
              <a:t>LEO</a:t>
            </a:r>
            <a:r>
              <a:rPr lang="he-IL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68873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B9F26AC-BC99-1049-DF6E-AFB2363539B6}"/>
              </a:ext>
            </a:extLst>
          </p:cNvPr>
          <p:cNvSpPr/>
          <p:nvPr/>
        </p:nvSpPr>
        <p:spPr>
          <a:xfrm>
            <a:off x="2639505" y="293265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Sora SemiBold" pitchFamily="34" charset="0"/>
                <a:cs typeface="Sora SemiBold" pitchFamily="34" charset="-120"/>
              </a:rPr>
              <a:t>Thank you for listening!</a:t>
            </a:r>
            <a:endParaRPr lang="en-US" sz="4400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291D151-0628-33D8-3585-7FD7A0668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729" y="141498"/>
            <a:ext cx="3674900" cy="2478611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C616F548-E270-D625-9583-7E790DA5B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18" y="3829798"/>
            <a:ext cx="4177454" cy="286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7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כחול מספר שתיים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TM03457475[[fn=מסגרת]]</Template>
  <TotalTime>383</TotalTime>
  <Words>945</Words>
  <Application>Microsoft Office PowerPoint</Application>
  <PresentationFormat>מסך רחב</PresentationFormat>
  <Paragraphs>129</Paragraphs>
  <Slides>15</Slides>
  <Notes>15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25" baseType="lpstr">
      <vt:lpstr>Sora SemiBold</vt:lpstr>
      <vt:lpstr>Aptos</vt:lpstr>
      <vt:lpstr>Sora Bold</vt:lpstr>
      <vt:lpstr>Sitka Small Semibold</vt:lpstr>
      <vt:lpstr>Cambria Math</vt:lpstr>
      <vt:lpstr>Arial</vt:lpstr>
      <vt:lpstr>Sora Light</vt:lpstr>
      <vt:lpstr>Sora</vt:lpstr>
      <vt:lpstr>Twemoji Mozilla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שחר לביא</cp:lastModifiedBy>
  <cp:revision>16</cp:revision>
  <dcterms:created xsi:type="dcterms:W3CDTF">2026-09-15T14:38:59Z</dcterms:created>
  <dcterms:modified xsi:type="dcterms:W3CDTF">2026-09-19T17:06:30Z</dcterms:modified>
</cp:coreProperties>
</file>